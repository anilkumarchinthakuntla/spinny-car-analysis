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1" r:id="rId5"/>
    <p:sldId id="266" r:id="rId6"/>
    <p:sldId id="295" r:id="rId7"/>
    <p:sldId id="262" r:id="rId8"/>
    <p:sldId id="286" r:id="rId9"/>
    <p:sldId id="268" r:id="rId10"/>
    <p:sldId id="263" r:id="rId11"/>
    <p:sldId id="269" r:id="rId12"/>
    <p:sldId id="289" r:id="rId13"/>
    <p:sldId id="290" r:id="rId14"/>
    <p:sldId id="288" r:id="rId15"/>
    <p:sldId id="291" r:id="rId16"/>
    <p:sldId id="292" r:id="rId17"/>
    <p:sldId id="293" r:id="rId18"/>
    <p:sldId id="294" r:id="rId19"/>
    <p:sldId id="267" r:id="rId20"/>
    <p:sldId id="284" r:id="rId21"/>
    <p:sldId id="285" r:id="rId22"/>
    <p:sldId id="259" r:id="rId23"/>
  </p:sldIdLst>
  <p:sldSz cx="12192000" cy="6858000"/>
  <p:notesSz cx="6858000" cy="9144000"/>
  <p:embeddedFontLst>
    <p:embeddedFont>
      <p:font typeface="Lato Black" panose="020F0502020204030203" pitchFamily="34" charset="0"/>
      <p:bold r:id="rId25"/>
      <p:boldItalic r:id="rId26"/>
    </p:embeddedFont>
    <p:embeddedFont>
      <p:font typeface="Libre Baskerville" panose="02000000000000000000" pitchFamily="2" charset="0"/>
      <p:regular r:id="rId27"/>
      <p:bold r:id="rId28"/>
      <p: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9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65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43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anil-kumar-613978256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nilkumarchinthakuntl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24" y="68824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2800" b="1" dirty="0">
                <a:solidFill>
                  <a:srgbClr val="FF0000"/>
                </a:solidFill>
              </a:rPr>
              <a:t>E</a:t>
            </a:r>
            <a:r>
              <a:rPr lang="en-IN" sz="2800" b="1" dirty="0"/>
              <a:t>xploratory </a:t>
            </a:r>
            <a:r>
              <a:rPr lang="en-IN" sz="2800" b="1" dirty="0">
                <a:solidFill>
                  <a:srgbClr val="FF0000"/>
                </a:solidFill>
              </a:rPr>
              <a:t>D</a:t>
            </a:r>
            <a:r>
              <a:rPr lang="en-IN" sz="2800" b="1" dirty="0"/>
              <a:t>ata </a:t>
            </a:r>
            <a:r>
              <a:rPr lang="en-IN" sz="2800" b="1" dirty="0">
                <a:solidFill>
                  <a:srgbClr val="FF0000"/>
                </a:solidFill>
              </a:rPr>
              <a:t>A</a:t>
            </a:r>
            <a:r>
              <a:rPr lang="en-IN" sz="2800" b="1" dirty="0"/>
              <a:t>nalysis </a:t>
            </a:r>
            <a:r>
              <a:rPr lang="en-IN" sz="2800" b="1" dirty="0">
                <a:solidFill>
                  <a:srgbClr val="FF0000"/>
                </a:solidFill>
              </a:rPr>
              <a:t>P</a:t>
            </a:r>
            <a:r>
              <a:rPr lang="en-IN" sz="2800" b="1" dirty="0"/>
              <a:t>roject on </a:t>
            </a:r>
            <a:r>
              <a:rPr lang="en-IN" sz="2800" b="1" dirty="0" err="1">
                <a:solidFill>
                  <a:srgbClr val="FF0000"/>
                </a:solidFill>
              </a:rPr>
              <a:t>S</a:t>
            </a:r>
            <a:r>
              <a:rPr lang="en-IN" sz="2800" b="1" dirty="0" err="1"/>
              <a:t>pinny</a:t>
            </a:r>
            <a:r>
              <a:rPr lang="en-IN" sz="2800" b="1" dirty="0"/>
              <a:t> </a:t>
            </a:r>
            <a:r>
              <a:rPr lang="en-IN" sz="2800" b="1" dirty="0">
                <a:solidFill>
                  <a:srgbClr val="FF0000"/>
                </a:solidFill>
              </a:rPr>
              <a:t>C</a:t>
            </a:r>
            <a:r>
              <a:rPr lang="en-IN" sz="2800" b="1" dirty="0"/>
              <a:t>ars 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CDE7DB-A8FF-CFCA-6688-073A9B575387}"/>
              </a:ext>
            </a:extLst>
          </p:cNvPr>
          <p:cNvSpPr txBox="1"/>
          <p:nvPr/>
        </p:nvSpPr>
        <p:spPr>
          <a:xfrm>
            <a:off x="7934633" y="5348749"/>
            <a:ext cx="364084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I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resented By:</a:t>
            </a:r>
          </a:p>
          <a:p>
            <a:r>
              <a:rPr lang="en-IN" sz="18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Anil </a:t>
            </a:r>
            <a:r>
              <a:rPr lang="en-IN" sz="1800" b="1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kumar</a:t>
            </a:r>
            <a:r>
              <a:rPr lang="en-IN" sz="18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Chinthakuntla</a:t>
            </a:r>
          </a:p>
          <a:p>
            <a:r>
              <a:rPr lang="en-IN" sz="18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Batch No: 436</a:t>
            </a:r>
          </a:p>
          <a:p>
            <a:r>
              <a:rPr lang="en-IN" sz="1800" b="1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Location:Dilshuknagar</a:t>
            </a:r>
            <a:endParaRPr lang="en-IN" sz="1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5DCECC-54C1-1020-6AEF-78351E261547}"/>
              </a:ext>
            </a:extLst>
          </p:cNvPr>
          <p:cNvSpPr txBox="1"/>
          <p:nvPr/>
        </p:nvSpPr>
        <p:spPr>
          <a:xfrm>
            <a:off x="835741" y="1133743"/>
            <a:ext cx="10569678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0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Background?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IN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	I have completed my </a:t>
            </a:r>
            <a:r>
              <a:rPr lang="en-IN" sz="2000" b="1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B.Tech</a:t>
            </a:r>
            <a:r>
              <a:rPr lang="en-IN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graduation in Electrical Engineer from </a:t>
            </a:r>
            <a:r>
              <a:rPr lang="en-IN" sz="2000" b="1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Annamacharya</a:t>
            </a:r>
            <a:r>
              <a:rPr lang="en-IN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institute of technology and science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IN" sz="20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Any work experience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	I have 6 years of work experience in Navigation field </a:t>
            </a:r>
          </a:p>
          <a:p>
            <a:pPr lvl="0">
              <a:buClr>
                <a:schemeClr val="dk1"/>
              </a:buClr>
              <a:buSzPts val="2400"/>
            </a:pPr>
            <a:endParaRPr lang="en-US"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LinkedIn profile URL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IN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	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www.linkedin.com/in/anil-kumar-613978256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buClr>
                <a:schemeClr val="dk1"/>
              </a:buClr>
              <a:buSzPts val="2400"/>
            </a:pPr>
            <a:endParaRPr lang="en-IN"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Git hub profile URL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IN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	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https://github.com/anilkumarchinthakuntla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buClr>
                <a:schemeClr val="dk1"/>
              </a:buClr>
              <a:buSzPts val="2400"/>
            </a:pPr>
            <a:endParaRPr lang="en-IN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Agenda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25886" y="1158837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indent="-431800">
              <a:buSzPts val="2400"/>
            </a:pPr>
            <a:r>
              <a:rPr lang="en-US" sz="2600" b="1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Business Problem</a:t>
            </a:r>
            <a:endParaRPr lang="en-IN" sz="2600" b="1" dirty="0">
              <a:solidFill>
                <a:schemeClr val="tx1"/>
              </a:solidFill>
              <a:latin typeface="+mn-lt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600" b="1" dirty="0">
                <a:solidFill>
                  <a:schemeClr val="tx1"/>
                </a:solidFill>
                <a:latin typeface="+mn-lt"/>
              </a:rPr>
              <a:t>Objective of the Project</a:t>
            </a:r>
          </a:p>
          <a:p>
            <a:pPr lvl="0" indent="-431800">
              <a:buSzPts val="2400"/>
            </a:pPr>
            <a:r>
              <a:rPr lang="en-IN" sz="2600" b="1" dirty="0">
                <a:solidFill>
                  <a:schemeClr val="tx1"/>
                </a:solidFill>
                <a:latin typeface="+mn-lt"/>
              </a:rPr>
              <a:t>Introduction of </a:t>
            </a:r>
            <a:r>
              <a:rPr lang="en-IN" sz="2600" b="1" dirty="0" err="1">
                <a:solidFill>
                  <a:schemeClr val="tx1"/>
                </a:solidFill>
                <a:latin typeface="+mn-lt"/>
              </a:rPr>
              <a:t>Spinny</a:t>
            </a:r>
            <a:r>
              <a:rPr lang="en-IN" sz="2600" b="1" dirty="0">
                <a:solidFill>
                  <a:schemeClr val="tx1"/>
                </a:solidFill>
                <a:latin typeface="+mn-lt"/>
              </a:rPr>
              <a:t> Website</a:t>
            </a:r>
          </a:p>
          <a:p>
            <a:pPr indent="-431800">
              <a:buSzPts val="2400"/>
            </a:pPr>
            <a:r>
              <a:rPr lang="en-IN" sz="2600" b="1" dirty="0">
                <a:solidFill>
                  <a:schemeClr val="tx1"/>
                </a:solidFill>
                <a:latin typeface="+mn-lt"/>
              </a:rPr>
              <a:t>Data column description </a:t>
            </a:r>
            <a:endParaRPr sz="2600" dirty="0">
              <a:solidFill>
                <a:schemeClr val="tx1"/>
              </a:solidFill>
              <a:latin typeface="+mn-lt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600" b="1" dirty="0">
                <a:latin typeface="+mn-lt"/>
              </a:rPr>
              <a:t>Data Extraction Using Web Scrape</a:t>
            </a:r>
            <a:endParaRPr lang="en-IN" sz="2600" b="1" dirty="0">
              <a:solidFill>
                <a:srgbClr val="000000"/>
              </a:solidFill>
              <a:latin typeface="+mn-lt"/>
            </a:endParaRPr>
          </a:p>
          <a:p>
            <a:pPr indent="-431800">
              <a:buSzPts val="2400"/>
            </a:pPr>
            <a:r>
              <a:rPr lang="en-IN" sz="2600" b="1" dirty="0">
                <a:latin typeface="+mn-lt"/>
              </a:rPr>
              <a:t>Data Loading and Cleaning</a:t>
            </a:r>
          </a:p>
          <a:p>
            <a:pPr indent="-431800">
              <a:buSzPts val="2400"/>
            </a:pPr>
            <a:r>
              <a:rPr lang="en-IN" sz="2600" b="1" dirty="0">
                <a:latin typeface="+mn-lt"/>
              </a:rPr>
              <a:t>Data visualization</a:t>
            </a:r>
          </a:p>
          <a:p>
            <a:pPr indent="-431800">
              <a:buSzPts val="2400"/>
            </a:pPr>
            <a:r>
              <a:rPr lang="en-US" sz="2600" b="1" dirty="0">
                <a:solidFill>
                  <a:schemeClr val="tx1"/>
                </a:solidFill>
                <a:latin typeface="+mn-lt"/>
              </a:rPr>
              <a:t>Insights and pattern screenshots </a:t>
            </a:r>
          </a:p>
          <a:p>
            <a:pPr indent="-431800">
              <a:buSzPts val="2400"/>
            </a:pPr>
            <a:r>
              <a:rPr lang="en-IN" sz="2600" b="1" dirty="0">
                <a:solidFill>
                  <a:schemeClr val="tx1"/>
                </a:solidFill>
                <a:latin typeface="+mn-lt"/>
              </a:rPr>
              <a:t>Key analysis and Tech Support</a:t>
            </a:r>
            <a:endParaRPr sz="2600" dirty="0">
              <a:solidFill>
                <a:schemeClr val="tx1"/>
              </a:solidFill>
              <a:latin typeface="+mn-lt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600" b="1" dirty="0">
                <a:solidFill>
                  <a:schemeClr val="tx1"/>
                </a:solidFill>
                <a:latin typeface="+mn-lt"/>
              </a:rPr>
              <a:t>Conclusion 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600" b="1" dirty="0">
                <a:solidFill>
                  <a:schemeClr val="tx1"/>
                </a:solidFill>
                <a:latin typeface="+mn-lt"/>
              </a:rPr>
              <a:t>Q&amp;A Slide </a:t>
            </a:r>
            <a:endParaRPr sz="2600" dirty="0">
              <a:solidFill>
                <a:schemeClr val="tx1"/>
              </a:solidFill>
              <a:latin typeface="+mn-l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30E702-58F7-EFAA-50DA-80F18BB65A3C}"/>
              </a:ext>
            </a:extLst>
          </p:cNvPr>
          <p:cNvSpPr txBox="1"/>
          <p:nvPr/>
        </p:nvSpPr>
        <p:spPr>
          <a:xfrm>
            <a:off x="275303" y="452284"/>
            <a:ext cx="11582400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000" dirty="0"/>
          </a:p>
          <a:p>
            <a:r>
              <a:rPr lang="en-US" sz="3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</a:t>
            </a:r>
          </a:p>
          <a:p>
            <a:endParaRPr lang="en-US" sz="36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None/>
            </a:pPr>
            <a:r>
              <a:rPr lang="en-US" sz="2800" dirty="0"/>
              <a:t>Consumers looking to buy used cars often face </a:t>
            </a:r>
            <a:r>
              <a:rPr lang="en-US" sz="2800" b="1" dirty="0"/>
              <a:t>uncertainty, lack of trust, and inconvenience</a:t>
            </a:r>
            <a:r>
              <a:rPr lang="en-US" sz="2800" dirty="0"/>
              <a:t> when navigating the used car market. They struggle with issues like unclear pricing, hidden vehicle problems, unreliable sellers, and complex paperwork — all of which make the process stressful and risky</a:t>
            </a:r>
            <a:endParaRPr lang="en-US" sz="2800" b="1" dirty="0"/>
          </a:p>
          <a:p>
            <a:endParaRPr lang="en-US" sz="2000" b="1" dirty="0"/>
          </a:p>
          <a:p>
            <a:pPr algn="just">
              <a:lnSpc>
                <a:spcPct val="150000"/>
              </a:lnSpc>
              <a:buNone/>
            </a:pPr>
            <a:endParaRPr lang="en-US" sz="2000" b="1" dirty="0"/>
          </a:p>
          <a:p>
            <a:pPr algn="just">
              <a:buNone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95164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C9403-8E30-6955-DFA3-4282D8E52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3923CF-9CD9-FCC9-677D-5B5FA72E2D84}"/>
              </a:ext>
            </a:extLst>
          </p:cNvPr>
          <p:cNvSpPr txBox="1"/>
          <p:nvPr/>
        </p:nvSpPr>
        <p:spPr>
          <a:xfrm>
            <a:off x="275303" y="452284"/>
            <a:ext cx="11621729" cy="5390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Objective of the Project</a:t>
            </a:r>
          </a:p>
          <a:p>
            <a:pPr algn="just">
              <a:buNone/>
            </a:pPr>
            <a:endParaRPr lang="en-US" sz="2000" dirty="0"/>
          </a:p>
          <a:p>
            <a:pPr>
              <a:lnSpc>
                <a:spcPct val="150000"/>
              </a:lnSpc>
              <a:buNone/>
            </a:pPr>
            <a:r>
              <a:rPr lang="en-US" sz="2000" b="1" dirty="0"/>
              <a:t>✔ Quality and Trust:</a:t>
            </a:r>
            <a:r>
              <a:rPr lang="en-US" sz="2000" dirty="0"/>
              <a:t> Deliver pre-owned cars that pass a inspection and certification process so buyers feel confident in their purchase. </a:t>
            </a:r>
          </a:p>
          <a:p>
            <a:pPr>
              <a:lnSpc>
                <a:spcPct val="150000"/>
              </a:lnSpc>
              <a:buNone/>
            </a:pPr>
            <a:br>
              <a:rPr lang="en-US" sz="2000" dirty="0"/>
            </a:br>
            <a:r>
              <a:rPr lang="en-US" sz="2000" b="1" dirty="0"/>
              <a:t>✔ Transparency:</a:t>
            </a:r>
            <a:r>
              <a:rPr lang="en-US" sz="2000" dirty="0"/>
              <a:t> Provide fixed prices and clear vehicle information to eliminate negotiation hassles and uncertainty. </a:t>
            </a:r>
          </a:p>
          <a:p>
            <a:pPr>
              <a:lnSpc>
                <a:spcPct val="150000"/>
              </a:lnSpc>
              <a:buNone/>
            </a:pPr>
            <a:br>
              <a:rPr lang="en-US" sz="2000" dirty="0"/>
            </a:br>
            <a:r>
              <a:rPr lang="en-US" sz="2000" b="1" dirty="0"/>
              <a:t>✔ Convenience:</a:t>
            </a:r>
            <a:r>
              <a:rPr lang="en-US" sz="2000" dirty="0"/>
              <a:t> Support online browsing, home test-drives, online payments, and doorstep delivery.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b="1" dirty="0"/>
              <a:t>✔ Post-Purchase Assurance:</a:t>
            </a:r>
            <a:r>
              <a:rPr lang="en-US" sz="2000" dirty="0"/>
              <a:t> Offer warranties and return policies to reduce buyer risk and enhance peace of mind.</a:t>
            </a:r>
            <a:r>
              <a:rPr lang="en-IN" sz="2000" dirty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9308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45EC7-2FE8-38F3-5E0A-C98F8241D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C5A085-CCDC-AF73-753A-504D8406AEB8}"/>
              </a:ext>
            </a:extLst>
          </p:cNvPr>
          <p:cNvSpPr txBox="1"/>
          <p:nvPr/>
        </p:nvSpPr>
        <p:spPr>
          <a:xfrm>
            <a:off x="206478" y="260781"/>
            <a:ext cx="6096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10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Introduction</a:t>
            </a:r>
            <a:endParaRPr lang="en-IN" sz="28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0C1BC5-A2E3-147B-04E5-0621C7F00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8" y="496755"/>
            <a:ext cx="6096001" cy="5423356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FCF12CF6-5703-D882-73A7-B2A24B0EE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536" y="937889"/>
            <a:ext cx="5968462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Spinny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one of India’s leading online platforms for buying and selling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certified used cars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offering a transparent and hassle-free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involves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scraping used car data from the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Spinny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website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and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BeautifulSoup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collected dataset includes important attributes such as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brand, model, year, fuel type, transmission, kilometers driven, price, and location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 Data Analysis (EDA)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project aims to uncover insights such as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popular car brands, price variations across locations, and factors influencing used car prices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 derived from this analysis help in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the used car market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support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decision-making for buyers, sellers, and businesses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690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19765E-9F91-C591-D293-E306FFD92A7D}"/>
              </a:ext>
            </a:extLst>
          </p:cNvPr>
          <p:cNvSpPr txBox="1"/>
          <p:nvPr/>
        </p:nvSpPr>
        <p:spPr>
          <a:xfrm>
            <a:off x="688258" y="0"/>
            <a:ext cx="6096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10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IN" sz="2800" b="1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</a:rPr>
              <a:t>Data Column Description 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C1A721-27E1-93A1-C178-98E067201446}"/>
              </a:ext>
            </a:extLst>
          </p:cNvPr>
          <p:cNvSpPr txBox="1"/>
          <p:nvPr/>
        </p:nvSpPr>
        <p:spPr>
          <a:xfrm>
            <a:off x="570270" y="677108"/>
            <a:ext cx="1146441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Year</a:t>
            </a:r>
            <a:r>
              <a:rPr lang="en-US" sz="2000" dirty="0"/>
              <a:t> – Manufacturing year of the vehicle, indicating how old the car is.</a:t>
            </a:r>
          </a:p>
          <a:p>
            <a:r>
              <a:rPr lang="en-US" sz="2000" b="1" dirty="0"/>
              <a:t>Brand</a:t>
            </a:r>
            <a:r>
              <a:rPr lang="en-US" sz="2000" dirty="0"/>
              <a:t> – The manufacturer of the car (e.g., Maruti, Hyundai, Kia).</a:t>
            </a:r>
          </a:p>
          <a:p>
            <a:r>
              <a:rPr lang="en-US" sz="2000" b="1" dirty="0"/>
              <a:t>Model</a:t>
            </a:r>
            <a:r>
              <a:rPr lang="en-US" sz="2000" dirty="0"/>
              <a:t> – The specific model name of the vehicle under a brand (e.g., Swift, Creta).</a:t>
            </a:r>
          </a:p>
          <a:p>
            <a:r>
              <a:rPr lang="en-US" sz="2000" b="1" dirty="0"/>
              <a:t>Variant</a:t>
            </a:r>
            <a:r>
              <a:rPr lang="en-US" sz="2000" dirty="0"/>
              <a:t> – The trim or configuration of the model defining features, engine, and gearbox options.</a:t>
            </a:r>
          </a:p>
          <a:p>
            <a:r>
              <a:rPr lang="en-US" sz="2000" b="1" dirty="0"/>
              <a:t>Price</a:t>
            </a:r>
            <a:r>
              <a:rPr lang="en-US" sz="2000" dirty="0"/>
              <a:t> – Listed selling price of the used car, expressed in lakhs of INR.</a:t>
            </a:r>
          </a:p>
          <a:p>
            <a:r>
              <a:rPr lang="en-US" sz="2000" b="1" dirty="0"/>
              <a:t>KM Driven</a:t>
            </a:r>
            <a:r>
              <a:rPr lang="en-US" sz="2000" dirty="0"/>
              <a:t> – Total distance the car has been driven, reflecting usage and wear.</a:t>
            </a:r>
          </a:p>
          <a:p>
            <a:r>
              <a:rPr lang="en-US" sz="2000" b="1" dirty="0"/>
              <a:t>Fuel</a:t>
            </a:r>
            <a:r>
              <a:rPr lang="en-US" sz="2000" dirty="0"/>
              <a:t> – Type of fuel used by the vehicle such as Petrol, Diesel, or CNG.</a:t>
            </a:r>
          </a:p>
          <a:p>
            <a:r>
              <a:rPr lang="en-US" sz="2000" b="1" dirty="0"/>
              <a:t>Transmission</a:t>
            </a:r>
            <a:r>
              <a:rPr lang="en-US" sz="2000" dirty="0"/>
              <a:t> – Gearbox type indicating whether the car is Manual or Automatic.</a:t>
            </a:r>
          </a:p>
          <a:p>
            <a:r>
              <a:rPr lang="en-US" sz="2000" b="1" dirty="0"/>
              <a:t>Registration</a:t>
            </a:r>
            <a:r>
              <a:rPr lang="en-US" sz="2000" dirty="0"/>
              <a:t> – Regional Transport Office (RTO) code representing the vehicle’s registration state and district.</a:t>
            </a:r>
          </a:p>
          <a:p>
            <a:r>
              <a:rPr lang="en-US" sz="2000" b="1" dirty="0"/>
              <a:t>Location</a:t>
            </a:r>
            <a:r>
              <a:rPr lang="en-US" sz="2000" dirty="0"/>
              <a:t> – City or showroom location where the car is available for sale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74A3F2-6D2C-619D-01F9-575E8A8FF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71" y="4233641"/>
            <a:ext cx="4994791" cy="24577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AC3532-20E7-0BAB-7B2D-F1D3176DE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062" y="4233641"/>
            <a:ext cx="6469622" cy="245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120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CD581-9E03-D49D-D438-D4CB292A8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5B43E9-45E1-9EFC-7695-689D0865162E}"/>
              </a:ext>
            </a:extLst>
          </p:cNvPr>
          <p:cNvSpPr/>
          <p:nvPr/>
        </p:nvSpPr>
        <p:spPr>
          <a:xfrm>
            <a:off x="66855" y="84835"/>
            <a:ext cx="4424518" cy="341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b="1" dirty="0"/>
              <a:t>Data Extraction Using Web Scraping</a:t>
            </a:r>
            <a:endParaRPr lang="en-IN" sz="18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908CE8-01CC-8D6A-45E3-94A4D46A9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219" y="4351347"/>
            <a:ext cx="2608281" cy="18803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ECA5D6-D363-B679-62A2-CE7205FED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698" y="4145447"/>
            <a:ext cx="2853863" cy="20862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B1C8A4-252F-4C6C-EAE1-07A01C118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175" y="2015542"/>
            <a:ext cx="4164030" cy="23480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F92467-34BE-FB57-7986-521933330D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5334" y="4569846"/>
            <a:ext cx="3177683" cy="19707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7B564C-D589-AE3C-0323-25984856E9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4610" y="2008211"/>
            <a:ext cx="3520952" cy="20862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8756A72-8B5F-3891-23C8-1BA38BA04F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853" y="2473273"/>
            <a:ext cx="4323726" cy="20200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6E345A1-E1CC-9D1B-92AA-5E12863FD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2336" y="7331"/>
            <a:ext cx="2620355" cy="193673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B10A209-15FC-2448-B484-4E6EA993AD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16" y="4569846"/>
            <a:ext cx="3291520" cy="203274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E1E75E5-CCA7-D950-BE96-A9A9C3AA8C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6646" y="0"/>
            <a:ext cx="4505323" cy="193673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D65C9DE-02C9-2D74-E323-8E781AED6FD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251" y="541121"/>
            <a:ext cx="4271130" cy="193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623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550D2A5-3836-0ED1-88B0-292C7FBB7A5A}"/>
              </a:ext>
            </a:extLst>
          </p:cNvPr>
          <p:cNvSpPr/>
          <p:nvPr/>
        </p:nvSpPr>
        <p:spPr>
          <a:xfrm>
            <a:off x="0" y="358454"/>
            <a:ext cx="12192000" cy="356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Creating Data Frame using Pandas</a:t>
            </a:r>
            <a:endParaRPr lang="en-IN" sz="20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E7F712-62B9-C1F2-4C3A-CE479DA61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5574"/>
            <a:ext cx="12192000" cy="546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325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A61B3B-0073-6EC9-F8A4-3027F72EB224}"/>
              </a:ext>
            </a:extLst>
          </p:cNvPr>
          <p:cNvSpPr/>
          <p:nvPr/>
        </p:nvSpPr>
        <p:spPr>
          <a:xfrm>
            <a:off x="78658" y="217012"/>
            <a:ext cx="6223819" cy="341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Data Loading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EBBAB0-2F28-8207-52E2-D0A72B51E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7" y="609600"/>
            <a:ext cx="6223820" cy="603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507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C00286-D4B5-7562-DD82-7B8E50DE5760}"/>
              </a:ext>
            </a:extLst>
          </p:cNvPr>
          <p:cNvSpPr/>
          <p:nvPr/>
        </p:nvSpPr>
        <p:spPr>
          <a:xfrm>
            <a:off x="78657" y="120259"/>
            <a:ext cx="4836000" cy="341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Data Cleaning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14BE68-6583-5EEA-DBA5-75BA44228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7" y="649190"/>
            <a:ext cx="8082117" cy="57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470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4882D-BF89-227C-1E2E-0F78A97AE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8456C1-1AAD-98FD-6E4C-FD0D16ECFC43}"/>
              </a:ext>
            </a:extLst>
          </p:cNvPr>
          <p:cNvSpPr/>
          <p:nvPr/>
        </p:nvSpPr>
        <p:spPr>
          <a:xfrm>
            <a:off x="78657" y="120259"/>
            <a:ext cx="4836000" cy="45001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Data visualization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919CF0-7967-1B2B-AE64-07AEC86DF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491" y="120259"/>
            <a:ext cx="7001852" cy="57525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8273F6-2E05-9970-0D49-7A01C76A5988}"/>
              </a:ext>
            </a:extLst>
          </p:cNvPr>
          <p:cNvSpPr txBox="1"/>
          <p:nvPr/>
        </p:nvSpPr>
        <p:spPr>
          <a:xfrm>
            <a:off x="78657" y="916980"/>
            <a:ext cx="483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i="0" dirty="0">
                <a:solidFill>
                  <a:schemeClr val="tx1"/>
                </a:solidFill>
                <a:effectLst/>
                <a:latin typeface="Google Sans"/>
              </a:rPr>
              <a:t>Data visualization 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Google Sans"/>
              </a:rPr>
              <a:t>is</a:t>
            </a:r>
            <a:r>
              <a:rPr lang="en-US" sz="1600" b="0" i="0" dirty="0">
                <a:solidFill>
                  <a:srgbClr val="474747"/>
                </a:solidFill>
                <a:effectLst/>
                <a:latin typeface="Google Sans"/>
              </a:rPr>
              <a:t> </a:t>
            </a:r>
            <a:r>
              <a:rPr lang="en-US" sz="1600" dirty="0"/>
              <a:t>the graphical representation of data and information using visual elements like charts, graphs, maps, and dashboards to make complex datasets understandable, reveal patterns, trends, and outliers, and facilitate faster, data-driven decision-making for both technical and non-technical audience</a:t>
            </a:r>
            <a:endParaRPr lang="en-IN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D7DE04-2447-5602-6148-E3AE4B3A7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8" y="3079572"/>
            <a:ext cx="4836000" cy="279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713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65AFE-8916-8A27-B3B5-0FAC0C2AB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75B167-DE80-313C-36D9-00AE6B5F3AFE}"/>
              </a:ext>
            </a:extLst>
          </p:cNvPr>
          <p:cNvSpPr/>
          <p:nvPr/>
        </p:nvSpPr>
        <p:spPr>
          <a:xfrm>
            <a:off x="78657" y="120259"/>
            <a:ext cx="4836000" cy="341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Top Brands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21FB43-CF41-C2DD-D29A-CC398847F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47" y="599767"/>
            <a:ext cx="11670892" cy="552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469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593DB-C267-F70B-2806-CB47CF487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3B06EA-A9C0-4ADF-9E01-EA308C47CDA1}"/>
              </a:ext>
            </a:extLst>
          </p:cNvPr>
          <p:cNvSpPr/>
          <p:nvPr/>
        </p:nvSpPr>
        <p:spPr>
          <a:xfrm>
            <a:off x="78656" y="120259"/>
            <a:ext cx="12034685" cy="341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Top Models and Top Variants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B65E10-1E48-8FDA-3C3A-971B412A6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518" y="647978"/>
            <a:ext cx="6164824" cy="52710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F32999-E388-4990-FEEA-ED1B0AC0C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7" y="647978"/>
            <a:ext cx="5869860" cy="556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4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80C16-82B7-7A3D-55F2-90AA7B331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249D01-DF59-FBC1-88F9-5A2D2EA36BE0}"/>
              </a:ext>
            </a:extLst>
          </p:cNvPr>
          <p:cNvSpPr/>
          <p:nvPr/>
        </p:nvSpPr>
        <p:spPr>
          <a:xfrm>
            <a:off x="78656" y="120259"/>
            <a:ext cx="12044517" cy="341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Fuel Type and Transmission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599368-44F3-EDC6-A413-9E109BA61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154" y="555050"/>
            <a:ext cx="5909189" cy="55355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F16AE4-0E06-9755-7B9B-4D182ACAD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6" y="555050"/>
            <a:ext cx="6125499" cy="57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374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C419D-106C-14CF-D84B-C97F42EEC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D78ADB-50C8-31A2-8CA1-6A5E24223FCD}"/>
              </a:ext>
            </a:extLst>
          </p:cNvPr>
          <p:cNvSpPr/>
          <p:nvPr/>
        </p:nvSpPr>
        <p:spPr>
          <a:xfrm>
            <a:off x="78656" y="120259"/>
            <a:ext cx="12044517" cy="341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Top RTO and Location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7F59C-E253-6462-31AF-D8AA1C3AF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099" y="601410"/>
            <a:ext cx="6547187" cy="49920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103F71-B950-7073-CDDD-8823985A6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14" y="601411"/>
            <a:ext cx="5349385" cy="517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707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0D7D9-E344-844C-085A-7CA034EC0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9E1B06-876A-2865-B218-9EA537D88006}"/>
              </a:ext>
            </a:extLst>
          </p:cNvPr>
          <p:cNvSpPr/>
          <p:nvPr/>
        </p:nvSpPr>
        <p:spPr>
          <a:xfrm>
            <a:off x="78656" y="120259"/>
            <a:ext cx="12044517" cy="341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Comparision</a:t>
            </a:r>
            <a:r>
              <a:rPr lang="en-US" sz="2400" dirty="0"/>
              <a:t> Price with </a:t>
            </a:r>
            <a:r>
              <a:rPr lang="en-US" sz="2400" dirty="0" err="1"/>
              <a:t>Year,Fuel</a:t>
            </a:r>
            <a:r>
              <a:rPr lang="en-US" sz="2400" dirty="0"/>
              <a:t> Type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A56946-60CB-D63B-6033-49037188C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74" y="589232"/>
            <a:ext cx="5277504" cy="61485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320CBF-9C43-A2E0-744C-EB4758A63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21" y="589233"/>
            <a:ext cx="6567639" cy="614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130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05C20-5167-C48F-DBEF-F44DEE2CF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20AE2-732F-697F-429D-E32C0F3BF4E8}"/>
              </a:ext>
            </a:extLst>
          </p:cNvPr>
          <p:cNvSpPr/>
          <p:nvPr/>
        </p:nvSpPr>
        <p:spPr>
          <a:xfrm>
            <a:off x="78656" y="120259"/>
            <a:ext cx="5512693" cy="341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Fuel type Vs Transmission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7898E9-D30A-6092-1455-5ECCBD215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6" y="632425"/>
            <a:ext cx="5512693" cy="58175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D148E0-1F4B-0EB3-4ED1-9BCA3BBAD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581" y="632425"/>
            <a:ext cx="6172029" cy="564055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E568A83-BD65-9399-445C-ED6C464B925D}"/>
              </a:ext>
            </a:extLst>
          </p:cNvPr>
          <p:cNvSpPr/>
          <p:nvPr/>
        </p:nvSpPr>
        <p:spPr>
          <a:xfrm>
            <a:off x="5796115" y="120258"/>
            <a:ext cx="6101496" cy="341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Year Vs KM Driven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52484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9511EC-4AE0-6800-5960-96DFB98EE030}"/>
              </a:ext>
            </a:extLst>
          </p:cNvPr>
          <p:cNvSpPr/>
          <p:nvPr/>
        </p:nvSpPr>
        <p:spPr>
          <a:xfrm>
            <a:off x="147106" y="193566"/>
            <a:ext cx="7708870" cy="3760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-apple-system"/>
              </a:rPr>
              <a:t>💻 Tech Stack Used: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649B8A-0B08-DABE-E586-385C2238816D}"/>
              </a:ext>
            </a:extLst>
          </p:cNvPr>
          <p:cNvSpPr txBox="1"/>
          <p:nvPr/>
        </p:nvSpPr>
        <p:spPr>
          <a:xfrm>
            <a:off x="570271" y="855407"/>
            <a:ext cx="857372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0" i="0" dirty="0">
                <a:effectLst/>
                <a:latin typeface="-apple-system"/>
              </a:rPr>
              <a:t>🕸️ Selenium, WebDriver Manager</a:t>
            </a:r>
            <a:br>
              <a:rPr lang="en-IN" sz="2000" b="0" i="0" dirty="0">
                <a:effectLst/>
                <a:latin typeface="-apple-system"/>
              </a:rPr>
            </a:br>
            <a:r>
              <a:rPr lang="en-IN" sz="2000" b="0" i="0" dirty="0">
                <a:effectLst/>
                <a:latin typeface="-apple-system"/>
              </a:rPr>
              <a:t>🥄 </a:t>
            </a:r>
            <a:r>
              <a:rPr lang="en-IN" sz="2000" b="0" i="0" dirty="0" err="1">
                <a:effectLst/>
                <a:latin typeface="-apple-system"/>
              </a:rPr>
              <a:t>BeautifulSoup</a:t>
            </a:r>
            <a:br>
              <a:rPr lang="en-IN" sz="2000" b="0" i="0" dirty="0">
                <a:effectLst/>
                <a:latin typeface="-apple-system"/>
              </a:rPr>
            </a:br>
            <a:r>
              <a:rPr lang="en-IN" sz="2000" b="0" i="0" dirty="0">
                <a:effectLst/>
                <a:latin typeface="-apple-system"/>
              </a:rPr>
              <a:t>🐍 Python</a:t>
            </a:r>
            <a:br>
              <a:rPr lang="en-IN" sz="2000" b="0" i="0" dirty="0">
                <a:effectLst/>
                <a:latin typeface="-apple-system"/>
              </a:rPr>
            </a:br>
            <a:r>
              <a:rPr lang="en-IN" sz="2000" b="0" i="0" dirty="0">
                <a:effectLst/>
                <a:latin typeface="-apple-system"/>
              </a:rPr>
              <a:t>📊 Pandas, NumPy</a:t>
            </a:r>
            <a:br>
              <a:rPr lang="en-IN" sz="2000" b="0" i="0" dirty="0">
                <a:effectLst/>
                <a:latin typeface="-apple-system"/>
              </a:rPr>
            </a:br>
            <a:r>
              <a:rPr lang="en-IN" sz="2000" b="0" i="0" dirty="0">
                <a:effectLst/>
                <a:latin typeface="-apple-system"/>
              </a:rPr>
              <a:t>📈 Matplotlib, Seaborn</a:t>
            </a: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8B726F-060A-89AA-AAB2-22250C79683A}"/>
              </a:ext>
            </a:extLst>
          </p:cNvPr>
          <p:cNvSpPr txBox="1"/>
          <p:nvPr/>
        </p:nvSpPr>
        <p:spPr>
          <a:xfrm>
            <a:off x="570271" y="3702955"/>
            <a:ext cx="7678994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b="0" i="0" dirty="0">
                <a:effectLst/>
                <a:latin typeface="-apple-system"/>
              </a:rPr>
            </a:br>
            <a:r>
              <a:rPr lang="en-US" sz="2000" b="0" i="0" dirty="0">
                <a:effectLst/>
                <a:latin typeface="-apple-system"/>
              </a:rPr>
              <a:t>🚗 Maruti &amp; Hyundai dominate the used-car market</a:t>
            </a:r>
            <a:br>
              <a:rPr lang="en-US" sz="2000" b="0" i="0" dirty="0">
                <a:effectLst/>
                <a:latin typeface="-apple-system"/>
              </a:rPr>
            </a:br>
            <a:r>
              <a:rPr lang="en-US" sz="2000" b="0" i="0" dirty="0">
                <a:effectLst/>
                <a:latin typeface="-apple-system"/>
              </a:rPr>
              <a:t>⛽ Petrol cars have the highest share</a:t>
            </a:r>
            <a:br>
              <a:rPr lang="en-US" sz="2000" b="0" i="0" dirty="0">
                <a:effectLst/>
                <a:latin typeface="-apple-system"/>
              </a:rPr>
            </a:br>
            <a:r>
              <a:rPr lang="en-US" sz="2000" b="0" i="0" dirty="0">
                <a:effectLst/>
                <a:latin typeface="-apple-system"/>
              </a:rPr>
              <a:t>🕹️ Manual transmission still leads, but automatic is rising</a:t>
            </a:r>
            <a:br>
              <a:rPr lang="en-US" sz="2000" b="0" i="0" dirty="0">
                <a:effectLst/>
                <a:latin typeface="-apple-system"/>
              </a:rPr>
            </a:br>
            <a:r>
              <a:rPr lang="en-US" sz="2000" b="0" i="0" dirty="0">
                <a:effectLst/>
                <a:latin typeface="-apple-system"/>
              </a:rPr>
              <a:t>📉 Higher KMs → Lower price trend confirmed</a:t>
            </a:r>
            <a:br>
              <a:rPr lang="en-US" sz="2000" b="0" i="0" dirty="0">
                <a:effectLst/>
                <a:latin typeface="-apple-system"/>
              </a:rPr>
            </a:br>
            <a:r>
              <a:rPr lang="en-US" sz="2000" b="0" i="0" dirty="0">
                <a:effectLst/>
                <a:latin typeface="-apple-system"/>
              </a:rPr>
              <a:t>📆 Cars from 2021–2022 have the highest availability</a:t>
            </a:r>
            <a:endParaRPr lang="en-IN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8B74CE-C88B-FFF8-EC2B-F7BFDCA2F0AA}"/>
              </a:ext>
            </a:extLst>
          </p:cNvPr>
          <p:cNvSpPr/>
          <p:nvPr/>
        </p:nvSpPr>
        <p:spPr>
          <a:xfrm>
            <a:off x="147106" y="3072580"/>
            <a:ext cx="7600713" cy="356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-apple-system"/>
              </a:rPr>
              <a:t>📌 Key Insights:</a:t>
            </a:r>
            <a:endParaRPr lang="en-IN" sz="24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613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4289ED-446B-D6B0-9B6D-65C1C5E5E6F4}"/>
              </a:ext>
            </a:extLst>
          </p:cNvPr>
          <p:cNvSpPr txBox="1"/>
          <p:nvPr/>
        </p:nvSpPr>
        <p:spPr>
          <a:xfrm>
            <a:off x="983225" y="930258"/>
            <a:ext cx="1077615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0" u="none" strike="noStrike" baseline="0" dirty="0">
                <a:solidFill>
                  <a:srgbClr val="FF0000"/>
                </a:solidFill>
                <a:latin typeface="Calibri" panose="020F0502020204030204" pitchFamily="34" charset="0"/>
              </a:rPr>
              <a:t>Conclusion</a:t>
            </a:r>
            <a:endParaRPr lang="en-IN" sz="3200" b="0" i="0" u="none" strike="noStrike" baseline="0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algn="just"/>
            <a:endParaRPr lang="en-IN" sz="24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involved 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 scraping used car data from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Spinny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using Python and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BeautifulSoup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b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Exploratory Data Analysis (EDA) helped identify key factors influencing car prices, such as 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brand, model year, mileage, fuel type, transmission, and location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analysis showed that 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newer cars with lower kilometers driven retain higher resale value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b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Brand popularity and city-wise demand were found to significantly impact pricing trends.</a:t>
            </a:r>
            <a:b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Overall, the project provides 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valuable market insights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support informed decision-making for 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buyers, sellers, and business</a:t>
            </a:r>
          </a:p>
          <a:p>
            <a:pPr algn="just"/>
            <a:b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438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AF30B-CF72-12E4-8989-98916D5A5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3EC5EB-B81F-F005-3A0E-479F228B8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017" y="383459"/>
            <a:ext cx="8597706" cy="538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853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1500</TotalTime>
  <Words>820</Words>
  <Application>Microsoft Office PowerPoint</Application>
  <PresentationFormat>Widescreen</PresentationFormat>
  <Paragraphs>84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-apple-system</vt:lpstr>
      <vt:lpstr>Calibri</vt:lpstr>
      <vt:lpstr>Arial</vt:lpstr>
      <vt:lpstr>Libre Baskerville</vt:lpstr>
      <vt:lpstr>Google Sans</vt:lpstr>
      <vt:lpstr>Lato Black</vt:lpstr>
      <vt:lpstr>Times New Roman</vt:lpstr>
      <vt:lpstr>Office Theme</vt:lpstr>
      <vt:lpstr>PowerPoint Presentation</vt:lpstr>
      <vt:lpstr>PowerPoint Presentation</vt:lpstr>
      <vt:lpstr>Agenda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Robbinn hudd</cp:lastModifiedBy>
  <cp:revision>83</cp:revision>
  <dcterms:created xsi:type="dcterms:W3CDTF">2021-02-16T05:19:01Z</dcterms:created>
  <dcterms:modified xsi:type="dcterms:W3CDTF">2026-01-31T08:27:27Z</dcterms:modified>
</cp:coreProperties>
</file>